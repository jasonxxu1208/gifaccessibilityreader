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Urbanist Medium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33" Type="http://schemas.openxmlformats.org/officeDocument/2006/relationships/font" Target="fonts/Urbanist-boldItalic.fntdata"/><Relationship Id="rId32" Type="http://schemas.openxmlformats.org/officeDocument/2006/relationships/font" Target="fonts/Urbanist-italic.fntdata"/><Relationship Id="rId35" Type="http://schemas.openxmlformats.org/officeDocument/2006/relationships/font" Target="fonts/PoppinsSemiBold-bold.fntdata"/><Relationship Id="rId34" Type="http://schemas.openxmlformats.org/officeDocument/2006/relationships/font" Target="fonts/PoppinsSemiBold-regular.fntdata"/><Relationship Id="rId37" Type="http://schemas.openxmlformats.org/officeDocument/2006/relationships/font" Target="fonts/PoppinsSemiBold-boldItalic.fntdata"/><Relationship Id="rId36" Type="http://schemas.openxmlformats.org/officeDocument/2006/relationships/font" Target="fonts/PoppinsSemiBold-italic.fntdata"/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26" Type="http://schemas.openxmlformats.org/officeDocument/2006/relationships/font" Target="fonts/UrbanistMedium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UrbanistMedium-italic.fntdata"/><Relationship Id="rId27" Type="http://schemas.openxmlformats.org/officeDocument/2006/relationships/font" Target="fonts/UrbanistMedium-bold.fntdata"/><Relationship Id="rId29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866029fb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866029fb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66029fb5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866029fb5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866029fb59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866029fb59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66029fb59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866029fb59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866029fb59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866029fb59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866029fb59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866029fb59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66029fb59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66029fb59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66029fb59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866029fb59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866029fb59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866029fb59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866029fb59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866029fb59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866029fb59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866029fb59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866029fb59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866029fb59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866029fb59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866029fb59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425b3039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a425b3039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866029fb59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866029fb59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5" name="Google Shape;55;p14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14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5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" name="Google Shape;70;p15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3" name="Google Shape;93;p18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18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5" name="Google Shape;95;p18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8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18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p18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" name="Google Shape;109;p19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9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9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9" name="Google Shape;119;p20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20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6" name="Google Shape;126;p2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2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2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22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2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" name="Google Shape;140;p22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2" name="Google Shape;142;p2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3" name="Google Shape;143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23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3" name="Google Shape;153;p2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4" name="Google Shape;154;p2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58" name="Google Shape;158;p2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59" name="Google Shape;159;p24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60" name="Google Shape;160;p24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1" name="Google Shape;161;p24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62" name="Google Shape;162;p24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4" name="Google Shape;164;p24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25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25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25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26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26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6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5" name="Google Shape;185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6" name="Google Shape;186;p26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2" name="Google Shape;192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27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7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27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7" name="Google Shape;197;p27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8" name="Google Shape;198;p27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8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28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8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17" name="Google Shape;217;p29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218" name="Google Shape;218;p29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221" name="Google Shape;221;p2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3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8" name="Google Shape;228;p3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30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30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30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3" name="Google Shape;233;p3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31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45" name="Google Shape;245;p31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31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32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1" name="Google Shape;251;p32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2" name="Google Shape;252;p32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33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73" name="Google Shape;273;p33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4" name="Google Shape;274;p33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79" name="Google Shape;279;p34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1" name="Google Shape;281;p34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3" name="Google Shape;283;p34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34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4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0" name="Google Shape;290;p34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4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5" name="Google Shape;295;p35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5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98" name="Google Shape;298;p35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5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300" name="Google Shape;300;p35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35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35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313" name="Google Shape;313;p35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35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5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19" name="Google Shape;319;p36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0" name="Google Shape;320;p36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1" name="Google Shape;321;p36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322" name="Google Shape;322;p36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3" name="Google Shape;323;p36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4" name="Google Shape;324;p36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36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36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9" name="Google Shape;329;p36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6" name="Google Shape;336;p36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7" name="Google Shape;337;p36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8" name="Google Shape;338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1" name="Google Shape;341;p37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7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p37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7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6" name="Google Shape;346;p37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7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7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9" name="Google Shape;349;p37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0" name="Google Shape;350;p37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7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2" name="Google Shape;352;p37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3" name="Google Shape;353;p37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4" name="Google Shape;354;p37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7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6" name="Google Shape;356;p37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7" name="Google Shape;357;p37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8" name="Google Shape;358;p37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7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0" name="Google Shape;360;p37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1" name="Google Shape;361;p37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2" name="Google Shape;362;p37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7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4" name="Google Shape;364;p37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5" name="Google Shape;365;p37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6" name="Google Shape;366;p37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7" name="Google Shape;367;p37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8" name="Google Shape;368;p37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3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0" name="Google Shape;370;p37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1" name="Google Shape;371;p37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5" name="Google Shape;375;p38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6" name="Google Shape;376;p38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7" name="Google Shape;377;p38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8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0" name="Google Shape;380;p38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1" name="Google Shape;381;p38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2" name="Google Shape;38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3" name="Google Shape;383;p38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8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8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7" name="Google Shape;387;p38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8" name="Google Shape;388;p38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9" name="Google Shape;389;p38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2" name="Google Shape;392;p38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8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8" name="Google Shape;398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9" name="Google Shape;399;p38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0" name="Google Shape;400;p38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1" name="Google Shape;401;p38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3" name="Google Shape;403;p38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4" name="Google Shape;404;p38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6" name="Google Shape;406;p38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07" name="Google Shape;407;p38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08" name="Google Shape;408;p38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1" name="Google Shape;411;p38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38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3" name="Google Shape;413;p38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0" name="Google Shape;420;p39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1" name="Google Shape;421;p39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2" name="Google Shape;422;p39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3" name="Google Shape;423;p39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4" name="Google Shape;424;p39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5" name="Google Shape;425;p39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39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27" name="Google Shape;427;p39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8" name="Google Shape;428;p39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39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0" name="Google Shape;430;p39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1" name="Google Shape;431;p39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2" name="Google Shape;432;p39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9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9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5" name="Google Shape;435;p39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6" name="Google Shape;436;p39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7" name="Google Shape;437;p39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8" name="Google Shape;438;p39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9" name="Google Shape;439;p39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0" name="Google Shape;440;p39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1" name="Google Shape;441;p39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3" name="Google Shape;443;p39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44" name="Google Shape;444;p39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9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46" name="Google Shape;446;p3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7" name="Google Shape;447;p39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39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9" name="Google Shape;449;p39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0" name="Google Shape;450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3" name="Google Shape;453;p4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4" name="Google Shape;454;p4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5" name="Google Shape;455;p4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p4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59" name="Google Shape;459;p41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0" name="Google Shape;460;p41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1" name="Google Shape;461;p41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1" name="Google Shape;471;p42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2" name="Google Shape;472;p42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3" name="Google Shape;473;p42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4" name="Google Shape;474;p42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5" name="Google Shape;475;p42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2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2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8" name="Google Shape;478;p42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79" name="Google Shape;479;p42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0" name="Google Shape;480;p42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1" name="Google Shape;481;p42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2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83" name="Google Shape;483;p42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4" name="Google Shape;484;p42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5" name="Google Shape;485;p42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4" name="Google Shape;494;p43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5" name="Google Shape;495;p43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6" name="Google Shape;496;p43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97" name="Google Shape;497;p43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3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3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43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43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2" name="Google Shape;502;p43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3" name="Google Shape;503;p43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8" name="Google Shape;508;p44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9" name="Google Shape;509;p44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0" name="Google Shape;510;p44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2" name="Google Shape;512;p44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513" name="Google Shape;513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5" name="Google Shape;535;p5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1" name="Google Shape;541;p5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5" name="Google Shape;545;p5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5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5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5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5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5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4" name="Google Shape;554;p5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8" name="Google Shape;558;p5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9" name="Google Shape;559;p5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0" name="Google Shape;560;p5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5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5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5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1" name="Google Shape;571;p6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6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6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6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6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6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8" name="Google Shape;578;p6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1" name="Google Shape;581;p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4" name="Google Shape;584;p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8" name="Google Shape;588;p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2" name="Google Shape;592;p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7" name="Google Shape;59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98" name="Google Shape;598;p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0" name="Google Shape;600;p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1" name="Google Shape;611;p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Capstone Project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GIF ACCESSIBILITY READER: LOCAL ML REBUILD &amp; MODEL COMPARISON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Present by: Jason Xu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Faculty Advisor: Min Chen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7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GIFs are widely used across social platforms but remain largely inaccessible to visually impaired users because screen readers cannot describe motion or visual context.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The original GIF Accessibility Reader (2023) produced only single-frame captions and relied on a heavy, outdated codebase.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This project modernizes the entire system, simplifies the backend, and introduces a multi-model evaluation pipeline to identify the best captioning strategy for animated GIFs.</a:t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67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8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Analyze the legacy codebase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Identify outdated components, broken dependencies, and remove unsupported modules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Rebuild the backend architecture using FastAPI.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Integrate new modern ML models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Modernize and adapt reused components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Benchmark accuracy, and runtime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Compare single-frame vs multi-frame captioning.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Analyze limitations of different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8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9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pic>
        <p:nvPicPr>
          <p:cNvPr id="636" name="Google Shape;636;p69" title="FASTAPI 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200" y="152400"/>
            <a:ext cx="37136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0"/>
          <p:cNvSpPr txBox="1"/>
          <p:nvPr>
            <p:ph idx="1" type="subTitle"/>
          </p:nvPr>
        </p:nvSpPr>
        <p:spPr>
          <a:xfrm>
            <a:off x="1807075" y="1330800"/>
            <a:ext cx="70146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BLIP: Strong baseline, fast, reliable image captioning.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MobileCLIP: Evaluate whether a CLIP model can provide useful labels for GIFs.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BLIP-2: Capable of reasoning over multiple frames, provides the upper bound of captioning quality to compare against the other two models.</a:t>
            </a:r>
            <a:endParaRPr b="0"/>
          </a:p>
        </p:txBody>
      </p:sp>
      <p:sp>
        <p:nvSpPr>
          <p:cNvPr id="642" name="Google Shape;642;p70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1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71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Outcomes</a:t>
            </a:r>
            <a:endParaRPr/>
          </a:p>
        </p:txBody>
      </p:sp>
      <p:pic>
        <p:nvPicPr>
          <p:cNvPr id="649" name="Google Shape;649;p71" title="Average Run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775" y="1368100"/>
            <a:ext cx="3116769" cy="265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71" title="_1.2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894" y="1368100"/>
            <a:ext cx="3610530" cy="265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2"/>
          <p:cNvSpPr txBox="1"/>
          <p:nvPr>
            <p:ph idx="1" type="subTitle"/>
          </p:nvPr>
        </p:nvSpPr>
        <p:spPr>
          <a:xfrm>
            <a:off x="1807074" y="1134350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 is fast and able to describe the object and subject in a GIF but struggles with emotions and text inside GIF.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MobileCLIP can’t generate full sentences. Outputs are often inaccurate single-word classifications.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BLIP-2 is more detailed and accurate is than BLIP in most of the cases, but it is significantly slower than the other. models</a:t>
            </a:r>
            <a:endParaRPr b="0"/>
          </a:p>
        </p:txBody>
      </p:sp>
      <p:sp>
        <p:nvSpPr>
          <p:cNvPr id="656" name="Google Shape;656;p72"/>
          <p:cNvSpPr txBox="1"/>
          <p:nvPr>
            <p:ph type="title"/>
          </p:nvPr>
        </p:nvSpPr>
        <p:spPr>
          <a:xfrm>
            <a:off x="1807075" y="6332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3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 is an image captioning model, it only captions one frame, so it often misses motion-based context in GIFs.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MobileCLIP is a CLIP-style embedding model, not a generative model. It only outputs the closest ImageNet class, which explains the single-word labels.</a:t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BLIP-2: Processing multiple frames requires cross-attention across all frames, which dramatically increases compute cost. Our system runs BLIP-2 on CPU, not GPU, so it becomes even slower due to the model’s size.</a:t>
            </a:r>
            <a:endParaRPr b="0"/>
          </a:p>
        </p:txBody>
      </p:sp>
      <p:sp>
        <p:nvSpPr>
          <p:cNvPr id="662" name="Google Shape;662;p73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Why?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4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Run BLIP-2 on a GPU with ≥ 12–16 GB VRAM instead of CPU</a:t>
            </a:r>
            <a:endParaRPr b="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Host BLIP-2 on a cloud GPU service for scalability.(e.g., Google Colab Pro)</a:t>
            </a:r>
            <a:endParaRPr b="0"/>
          </a:p>
        </p:txBody>
      </p:sp>
      <p:sp>
        <p:nvSpPr>
          <p:cNvPr id="668" name="Google Shape;668;p74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Optimization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5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Successfully rebuild the GIF Accessibility locally, </a:t>
            </a:r>
            <a:r>
              <a:rPr b="0" lang="en"/>
              <a:t>modernize</a:t>
            </a:r>
            <a:r>
              <a:rPr b="0" lang="en"/>
              <a:t> all components and compares different pre-trained models.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/>
              <a:t>The evaluation clearly shows:</a:t>
            </a:r>
            <a:endParaRPr b="0"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BLIP → Best for live accessibility</a:t>
            </a:r>
            <a:endParaRPr b="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BLIP-2 → Best quality, but need optimization</a:t>
            </a:r>
            <a:endParaRPr b="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MobileCLIP → Not appropriate for caption generation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75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6"/>
          <p:cNvSpPr txBox="1"/>
          <p:nvPr>
            <p:ph idx="1" type="subTitle"/>
          </p:nvPr>
        </p:nvSpPr>
        <p:spPr>
          <a:xfrm>
            <a:off x="1807074" y="1330925"/>
            <a:ext cx="67902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Integrate real video-caption models (VideoLLaMA, OpenFlamingo)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Use GPU-accelerated inference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Deploy as a web service for public accessibility use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6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7"/>
          <p:cNvSpPr txBox="1"/>
          <p:nvPr>
            <p:ph idx="1" type="subTitle"/>
          </p:nvPr>
        </p:nvSpPr>
        <p:spPr>
          <a:xfrm>
            <a:off x="1807075" y="1330925"/>
            <a:ext cx="70521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How to work with modern ML pipelines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How to rebuild and modernize a large legacy codebase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FastAPI backend design and API structuring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Model evaluation and benchmarking skills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Understanding Chrome Extensions and web integrations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7"/>
          <p:cNvSpPr txBox="1"/>
          <p:nvPr>
            <p:ph type="title"/>
          </p:nvPr>
        </p:nvSpPr>
        <p:spPr>
          <a:xfrm>
            <a:off x="1807075" y="700550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What I learned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8"/>
          <p:cNvSpPr txBox="1"/>
          <p:nvPr>
            <p:ph idx="1" type="subTitle"/>
          </p:nvPr>
        </p:nvSpPr>
        <p:spPr>
          <a:xfrm>
            <a:off x="1807075" y="1330925"/>
            <a:ext cx="70521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CSS 301 — Technical writing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CSS 360 — Software Engineering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CSS 370 — Analysis &amp; Design</a:t>
            </a:r>
            <a:endParaRPr b="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 CSS 481 — Web Programming &amp; Applications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8"/>
          <p:cNvSpPr txBox="1"/>
          <p:nvPr>
            <p:ph type="title"/>
          </p:nvPr>
        </p:nvSpPr>
        <p:spPr>
          <a:xfrm>
            <a:off x="1807075" y="700550"/>
            <a:ext cx="3598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Related Coursework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9"/>
          <p:cNvSpPr txBox="1"/>
          <p:nvPr>
            <p:ph idx="1" type="subTitle"/>
          </p:nvPr>
        </p:nvSpPr>
        <p:spPr>
          <a:xfrm>
            <a:off x="1807075" y="1330925"/>
            <a:ext cx="7052100" cy="35265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This project builds on previous research from the GIF Accessibility Reader team</a:t>
            </a:r>
            <a:endParaRPr b="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/>
              <a:t>Special thanks to Professor Min Chen for guidance and project direction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9"/>
          <p:cNvSpPr txBox="1"/>
          <p:nvPr>
            <p:ph type="title"/>
          </p:nvPr>
        </p:nvSpPr>
        <p:spPr>
          <a:xfrm>
            <a:off x="1807075" y="700550"/>
            <a:ext cx="3598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Acknowledgements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0"/>
          <p:cNvSpPr txBox="1"/>
          <p:nvPr>
            <p:ph type="title"/>
          </p:nvPr>
        </p:nvSpPr>
        <p:spPr>
          <a:xfrm>
            <a:off x="1323250" y="2354850"/>
            <a:ext cx="7685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Arial"/>
                <a:ea typeface="Arial"/>
                <a:cs typeface="Arial"/>
                <a:sym typeface="Arial"/>
              </a:rPr>
              <a:t>Q &amp; A</a:t>
            </a:r>
            <a:endParaRPr b="1" sz="4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